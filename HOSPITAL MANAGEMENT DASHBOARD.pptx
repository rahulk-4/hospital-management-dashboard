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4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8C861-1350-2225-1911-F73757BC5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70848" cy="2092810"/>
          </a:xfrm>
        </p:spPr>
        <p:txBody>
          <a:bodyPr/>
          <a:lstStyle/>
          <a:p>
            <a:r>
              <a:rPr lang="en-IN" sz="6000" dirty="0"/>
              <a:t>HOSPITAL MANAGEMENT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F70F5-459C-03AA-B441-3E5D063FC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Healthcare Data Analysis &amp; Operational Insights	</a:t>
            </a:r>
            <a:r>
              <a:rPr lang="en-IN" b="1" dirty="0"/>
              <a:t>Presented by:</a:t>
            </a:r>
            <a:r>
              <a:rPr lang="en-IN" dirty="0"/>
              <a:t> Rahul Kalaskar</a:t>
            </a:r>
          </a:p>
        </p:txBody>
      </p:sp>
    </p:spTree>
    <p:extLst>
      <p:ext uri="{BB962C8B-B14F-4D97-AF65-F5344CB8AC3E}">
        <p14:creationId xmlns:p14="http://schemas.microsoft.com/office/powerpoint/2010/main" val="420415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89907-DFEC-2600-A62F-466128F6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A0B04-C5DA-37B5-E75D-0354C62A1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Hospital management involves handling large amounts of patient and operational data. </a:t>
            </a:r>
          </a:p>
          <a:p>
            <a:pPr lvl="0"/>
            <a:r>
              <a:rPr lang="en-IN" dirty="0"/>
              <a:t>Manual analysis of this data can be time-consuming. </a:t>
            </a:r>
          </a:p>
          <a:p>
            <a:pPr lvl="0"/>
            <a:r>
              <a:rPr lang="en-IN" dirty="0"/>
              <a:t>This project converts raw hospital data into an </a:t>
            </a:r>
            <a:r>
              <a:rPr lang="en-IN" b="1" dirty="0"/>
              <a:t>interactive Excel dashboard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The dashboard helps </a:t>
            </a:r>
            <a:r>
              <a:rPr lang="en-IN" dirty="0" err="1"/>
              <a:t>analyze</a:t>
            </a:r>
            <a:r>
              <a:rPr lang="en-IN" dirty="0"/>
              <a:t> patients, doctors, departments, diseases, payments and waiting time. </a:t>
            </a:r>
          </a:p>
          <a:p>
            <a:pPr lvl="0"/>
            <a:r>
              <a:rPr lang="en-IN" dirty="0"/>
              <a:t>Users can interact with the dashboard using </a:t>
            </a:r>
            <a:r>
              <a:rPr lang="en-IN" b="1" dirty="0"/>
              <a:t>Slicers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3972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B523-7211-F8CB-A31A-0D64DD6B7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0A9C4-0314-894B-7242-22DA8740F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🎯 </a:t>
            </a:r>
            <a:r>
              <a:rPr lang="en-IN" b="1" dirty="0" err="1"/>
              <a:t>Analyze</a:t>
            </a:r>
            <a:r>
              <a:rPr lang="en-IN" b="1" dirty="0"/>
              <a:t> Patient Data</a:t>
            </a:r>
            <a:br>
              <a:rPr lang="en-IN" dirty="0"/>
            </a:br>
            <a:r>
              <a:rPr lang="en-IN" dirty="0"/>
              <a:t>Understand patient demographics, categories and visit patterns.</a:t>
            </a:r>
          </a:p>
          <a:p>
            <a:r>
              <a:rPr lang="en-IN" dirty="0"/>
              <a:t>🏥 </a:t>
            </a:r>
            <a:r>
              <a:rPr lang="en-IN" b="1" dirty="0" err="1"/>
              <a:t>Analyze</a:t>
            </a:r>
            <a:r>
              <a:rPr lang="en-IN" b="1" dirty="0"/>
              <a:t> Department Performance</a:t>
            </a:r>
            <a:br>
              <a:rPr lang="en-IN" dirty="0"/>
            </a:br>
            <a:r>
              <a:rPr lang="en-IN" dirty="0"/>
              <a:t>Identify departments with high transaction volumes.</a:t>
            </a:r>
          </a:p>
          <a:p>
            <a:r>
              <a:rPr lang="en-IN" dirty="0"/>
              <a:t>💰 </a:t>
            </a:r>
            <a:r>
              <a:rPr lang="en-IN" b="1" dirty="0" err="1"/>
              <a:t>Analyze</a:t>
            </a:r>
            <a:r>
              <a:rPr lang="en-IN" b="1" dirty="0"/>
              <a:t> Revenue &amp; Payments</a:t>
            </a:r>
            <a:br>
              <a:rPr lang="en-IN" dirty="0"/>
            </a:br>
            <a:r>
              <a:rPr lang="en-IN" dirty="0"/>
              <a:t>Understand revenue and different payment methods.</a:t>
            </a:r>
          </a:p>
          <a:p>
            <a:r>
              <a:rPr lang="en-IN" dirty="0"/>
              <a:t>⏱️ </a:t>
            </a:r>
            <a:r>
              <a:rPr lang="en-IN" b="1" dirty="0"/>
              <a:t>Monitor Patient Experience</a:t>
            </a:r>
            <a:br>
              <a:rPr lang="en-IN" dirty="0"/>
            </a:br>
            <a:r>
              <a:rPr lang="en-IN" dirty="0" err="1"/>
              <a:t>Analyze</a:t>
            </a:r>
            <a:r>
              <a:rPr lang="en-IN" dirty="0"/>
              <a:t> patient rating and waiting time.</a:t>
            </a:r>
          </a:p>
          <a:p>
            <a:r>
              <a:rPr lang="en-IN" dirty="0"/>
              <a:t>📊 </a:t>
            </a:r>
            <a:r>
              <a:rPr lang="en-IN" b="1" dirty="0"/>
              <a:t>Create Interactive Dashboard</a:t>
            </a:r>
            <a:br>
              <a:rPr lang="en-IN" dirty="0"/>
            </a:br>
            <a:r>
              <a:rPr lang="en-IN" dirty="0"/>
              <a:t>Allow users to filter and explore data dynamically.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350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ADFE6-FE35-EA32-B3B5-1F14B501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24098"/>
            <a:ext cx="10058400" cy="886692"/>
          </a:xfrm>
        </p:spPr>
        <p:txBody>
          <a:bodyPr/>
          <a:lstStyle/>
          <a:p>
            <a:r>
              <a:rPr lang="en-IN" dirty="0"/>
              <a:t>DATASET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222B4A-1BD9-5116-C7FD-1B0D3BD043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8911976"/>
              </p:ext>
            </p:extLst>
          </p:nvPr>
        </p:nvGraphicFramePr>
        <p:xfrm>
          <a:off x="990600" y="1553244"/>
          <a:ext cx="9580418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90209">
                  <a:extLst>
                    <a:ext uri="{9D8B030D-6E8A-4147-A177-3AD203B41FA5}">
                      <a16:colId xmlns:a16="http://schemas.microsoft.com/office/drawing/2014/main" val="2539506648"/>
                    </a:ext>
                  </a:extLst>
                </a:gridCol>
                <a:gridCol w="4790209">
                  <a:extLst>
                    <a:ext uri="{9D8B030D-6E8A-4147-A177-3AD203B41FA5}">
                      <a16:colId xmlns:a16="http://schemas.microsoft.com/office/drawing/2014/main" val="497471289"/>
                    </a:ext>
                  </a:extLst>
                </a:gridCol>
              </a:tblGrid>
              <a:tr h="34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1269638"/>
                  </a:ext>
                </a:extLst>
              </a:tr>
              <a:tr h="34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Patients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370679"/>
                  </a:ext>
                </a:extLst>
              </a:tr>
              <a:tr h="34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Doctors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0096197"/>
                  </a:ext>
                </a:extLst>
              </a:tr>
              <a:tr h="34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₹61,97,61,405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2973774"/>
                  </a:ext>
                </a:extLst>
              </a:tr>
              <a:tr h="34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Average Patient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4.0 /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0395802"/>
                  </a:ext>
                </a:extLst>
              </a:tr>
              <a:tr h="34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Average Waiting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33.7 minutes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087263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1F15F7C-9B8A-482B-8920-503222DA2DDA}"/>
              </a:ext>
            </a:extLst>
          </p:cNvPr>
          <p:cNvSpPr txBox="1"/>
          <p:nvPr/>
        </p:nvSpPr>
        <p:spPr>
          <a:xfrm>
            <a:off x="935181" y="3858640"/>
            <a:ext cx="100584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Major Data Categories</a:t>
            </a:r>
          </a:p>
          <a:p>
            <a:endParaRPr lang="en-IN" sz="1600" b="1" dirty="0"/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Patient Information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Doctor Information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Department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Patient Status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Disease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Payment Method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Insurance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Visit Type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Patient Type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84380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74065-E76D-A927-2C27-B1D9362CC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371600"/>
          </a:xfrm>
        </p:spPr>
        <p:txBody>
          <a:bodyPr/>
          <a:lstStyle/>
          <a:p>
            <a:r>
              <a:rPr lang="en-IN" dirty="0"/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68DDE-1F36-F0DB-EE74-CCDB0F1F3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126374"/>
            <a:ext cx="10058400" cy="3931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/>
              <a:t>🟢 Microsoft Excel</a:t>
            </a:r>
          </a:p>
          <a:p>
            <a:r>
              <a:rPr lang="en-IN" sz="1400" b="1" dirty="0"/>
              <a:t>Data Cleaning</a:t>
            </a:r>
            <a:endParaRPr lang="en-IN" sz="1400" dirty="0"/>
          </a:p>
          <a:p>
            <a:pPr lvl="0"/>
            <a:r>
              <a:rPr lang="en-IN" sz="1400" dirty="0"/>
              <a:t>Removed duplicates </a:t>
            </a:r>
          </a:p>
          <a:p>
            <a:pPr lvl="0"/>
            <a:r>
              <a:rPr lang="en-IN" sz="1400" dirty="0"/>
              <a:t>Checked missing values </a:t>
            </a:r>
          </a:p>
          <a:p>
            <a:pPr lvl="0"/>
            <a:r>
              <a:rPr lang="en-IN" sz="1400" dirty="0"/>
              <a:t>Standardized data </a:t>
            </a:r>
          </a:p>
          <a:p>
            <a:r>
              <a:rPr lang="en-IN" sz="1400" b="1" dirty="0"/>
              <a:t>Data Analysis</a:t>
            </a:r>
            <a:endParaRPr lang="en-IN" sz="1400" dirty="0"/>
          </a:p>
          <a:p>
            <a:pPr lvl="0"/>
            <a:r>
              <a:rPr lang="en-IN" sz="1400" dirty="0"/>
              <a:t>PivotTables </a:t>
            </a:r>
          </a:p>
          <a:p>
            <a:pPr lvl="0"/>
            <a:r>
              <a:rPr lang="en-IN" sz="1400" dirty="0"/>
              <a:t>Calculations </a:t>
            </a:r>
          </a:p>
          <a:p>
            <a:pPr lvl="0"/>
            <a:r>
              <a:rPr lang="en-IN" sz="1400" dirty="0"/>
              <a:t>Aggregations </a:t>
            </a:r>
          </a:p>
          <a:p>
            <a:r>
              <a:rPr lang="en-IN" sz="1400" b="1" dirty="0"/>
              <a:t>Data Visualization</a:t>
            </a:r>
            <a:endParaRPr lang="en-IN" sz="1400" dirty="0"/>
          </a:p>
          <a:p>
            <a:pPr lvl="0"/>
            <a:r>
              <a:rPr lang="en-IN" sz="1400" dirty="0" err="1"/>
              <a:t>PivotCharts</a:t>
            </a:r>
            <a:r>
              <a:rPr lang="en-IN" sz="1400" dirty="0"/>
              <a:t> </a:t>
            </a:r>
          </a:p>
          <a:p>
            <a:pPr lvl="0"/>
            <a:r>
              <a:rPr lang="en-IN" sz="1400" dirty="0"/>
              <a:t>KPI Cards </a:t>
            </a:r>
          </a:p>
          <a:p>
            <a:pPr lvl="0"/>
            <a:r>
              <a:rPr lang="en-IN" sz="1400" dirty="0"/>
              <a:t>Slicers </a:t>
            </a:r>
          </a:p>
          <a:p>
            <a:r>
              <a:rPr lang="en-IN" sz="1400" b="1" dirty="0"/>
              <a:t>Dashboard</a:t>
            </a:r>
            <a:endParaRPr lang="en-IN" sz="1400" dirty="0"/>
          </a:p>
          <a:p>
            <a:pPr lvl="0"/>
            <a:r>
              <a:rPr lang="en-IN" sz="1400" dirty="0"/>
              <a:t>Interactive filters </a:t>
            </a:r>
          </a:p>
          <a:p>
            <a:pPr lvl="0"/>
            <a:r>
              <a:rPr lang="en-IN" sz="1400" dirty="0"/>
              <a:t>Professional formatting </a:t>
            </a:r>
          </a:p>
          <a:p>
            <a:pPr lvl="0"/>
            <a:r>
              <a:rPr lang="en-IN" sz="1400" dirty="0"/>
              <a:t>Dynamic KPIs and charts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976796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36601-103B-00F3-992C-E6D5DD2A5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90945"/>
            <a:ext cx="10058400" cy="1371600"/>
          </a:xfrm>
        </p:spPr>
        <p:txBody>
          <a:bodyPr/>
          <a:lstStyle/>
          <a:p>
            <a:r>
              <a:rPr lang="en-IN" dirty="0"/>
              <a:t>Dashboard Overview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9CB176-7D56-2716-090F-FCFE9A8B8C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8418" y="1468581"/>
            <a:ext cx="9615055" cy="493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38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CD249-87B0-3B85-CD79-E329D052A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BUSINESS INSIGHTS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DDEDC-7E8D-FB68-E983-EF0BFFABA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611091" cy="3931920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KEY BUSINESS INSIGHTS</a:t>
            </a:r>
          </a:p>
          <a:p>
            <a:r>
              <a:rPr lang="en-IN" dirty="0"/>
              <a:t>🏥 </a:t>
            </a:r>
            <a:r>
              <a:rPr lang="en-IN" b="1" dirty="0"/>
              <a:t>Department Performance</a:t>
            </a:r>
            <a:br>
              <a:rPr lang="en-IN" dirty="0"/>
            </a:br>
            <a:r>
              <a:rPr lang="en-IN" dirty="0"/>
              <a:t>ICU has the highest transaction volume.</a:t>
            </a:r>
          </a:p>
          <a:p>
            <a:r>
              <a:rPr lang="en-IN" dirty="0"/>
              <a:t>👥 </a:t>
            </a:r>
            <a:r>
              <a:rPr lang="en-IN" b="1" dirty="0"/>
              <a:t>Patient Category</a:t>
            </a:r>
            <a:br>
              <a:rPr lang="en-IN" dirty="0"/>
            </a:br>
            <a:r>
              <a:rPr lang="en-IN" dirty="0"/>
              <a:t>Walk-in patients form the largest patient category.</a:t>
            </a:r>
          </a:p>
          <a:p>
            <a:r>
              <a:rPr lang="en-IN" dirty="0"/>
              <a:t>📊 </a:t>
            </a:r>
            <a:r>
              <a:rPr lang="en-IN" b="1" dirty="0"/>
              <a:t>Age Segment</a:t>
            </a:r>
            <a:br>
              <a:rPr lang="en-IN" dirty="0"/>
            </a:br>
            <a:r>
              <a:rPr lang="en-IN" dirty="0"/>
              <a:t>The 46–60 age group represents one of the largest segments.</a:t>
            </a:r>
          </a:p>
          <a:p>
            <a:r>
              <a:rPr lang="en-IN" dirty="0"/>
              <a:t>⭐ </a:t>
            </a:r>
            <a:r>
              <a:rPr lang="en-IN" b="1" dirty="0"/>
              <a:t>Patient Satisfaction</a:t>
            </a:r>
            <a:br>
              <a:rPr lang="en-IN" dirty="0"/>
            </a:br>
            <a:r>
              <a:rPr lang="en-IN" dirty="0"/>
              <a:t>Average patient rating is </a:t>
            </a:r>
            <a:r>
              <a:rPr lang="en-IN" b="1" dirty="0"/>
              <a:t>4.0/5</a:t>
            </a:r>
            <a:r>
              <a:rPr lang="en-IN" dirty="0"/>
              <a:t>.</a:t>
            </a:r>
          </a:p>
          <a:p>
            <a:r>
              <a:rPr lang="en-IN" dirty="0"/>
              <a:t>⏱️ </a:t>
            </a:r>
            <a:r>
              <a:rPr lang="en-IN" b="1" dirty="0"/>
              <a:t>Patient Flow</a:t>
            </a:r>
            <a:br>
              <a:rPr lang="en-IN" dirty="0"/>
            </a:br>
            <a:r>
              <a:rPr lang="en-IN" dirty="0"/>
              <a:t>Average OPD waiting time is </a:t>
            </a:r>
            <a:r>
              <a:rPr lang="en-IN" b="1" dirty="0"/>
              <a:t>33.7 minutes</a:t>
            </a:r>
            <a:r>
              <a:rPr lang="en-IN" dirty="0"/>
              <a:t>.</a:t>
            </a:r>
          </a:p>
          <a:p>
            <a:r>
              <a:rPr lang="en-IN" dirty="0"/>
              <a:t>🦠 </a:t>
            </a:r>
            <a:r>
              <a:rPr lang="en-IN" b="1" dirty="0"/>
              <a:t>Disease Trends</a:t>
            </a:r>
            <a:br>
              <a:rPr lang="en-IN" dirty="0"/>
            </a:br>
            <a:r>
              <a:rPr lang="en-IN" dirty="0"/>
              <a:t>Fever and other common conditions contribute significantly to patient volume.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31C6B2-BE0A-B32D-0305-A7C722D3FD44}"/>
              </a:ext>
            </a:extLst>
          </p:cNvPr>
          <p:cNvSpPr txBox="1"/>
          <p:nvPr/>
        </p:nvSpPr>
        <p:spPr>
          <a:xfrm>
            <a:off x="7176655" y="24176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8414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85BB3-406D-2592-5E44-AF57C9CBA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05B08-7B30-0011-05CA-A4FF0CE02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RECOMMENDATIONS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B816A-849A-483C-9439-B494D1357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9899073" cy="3931920"/>
          </a:xfrm>
        </p:spPr>
        <p:txBody>
          <a:bodyPr>
            <a:normAutofit/>
          </a:bodyPr>
          <a:lstStyle/>
          <a:p>
            <a:r>
              <a:rPr lang="en-IN" b="1" dirty="0"/>
              <a:t>01 — Improve Patient Flow</a:t>
            </a:r>
          </a:p>
          <a:p>
            <a:r>
              <a:rPr lang="en-IN" dirty="0" err="1"/>
              <a:t>Analyze</a:t>
            </a:r>
            <a:r>
              <a:rPr lang="en-IN" dirty="0"/>
              <a:t> peak OPD periods to reduce waiting time.</a:t>
            </a:r>
          </a:p>
          <a:p>
            <a:r>
              <a:rPr lang="en-IN" b="1" dirty="0"/>
              <a:t>02 — Optimize Resources</a:t>
            </a:r>
          </a:p>
          <a:p>
            <a:r>
              <a:rPr lang="en-IN" dirty="0"/>
              <a:t>Allocate doctors and resources according to department demand.</a:t>
            </a:r>
          </a:p>
          <a:p>
            <a:r>
              <a:rPr lang="en-IN" b="1" dirty="0"/>
              <a:t>03 — Monitor High-Volume Diseases</a:t>
            </a:r>
          </a:p>
          <a:p>
            <a:r>
              <a:rPr lang="en-IN" dirty="0"/>
              <a:t>Track frequently occurring diseases for better planning.</a:t>
            </a:r>
          </a:p>
          <a:p>
            <a:r>
              <a:rPr lang="en-IN" b="1" dirty="0"/>
              <a:t>04 — Focus on Major Patient Segments</a:t>
            </a:r>
          </a:p>
          <a:p>
            <a:r>
              <a:rPr lang="en-IN" dirty="0"/>
              <a:t>Develop services based on high-volume age groups and patient categories.</a:t>
            </a:r>
          </a:p>
          <a:p>
            <a:r>
              <a:rPr lang="en-IN" b="1" dirty="0"/>
              <a:t>05 — Monitor Patient Satisfaction</a:t>
            </a:r>
          </a:p>
          <a:p>
            <a:r>
              <a:rPr lang="en-IN" dirty="0"/>
              <a:t>Continue tracking ratings to maintain service quality.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03BBC-808B-425F-4596-2C5E81F5D84E}"/>
              </a:ext>
            </a:extLst>
          </p:cNvPr>
          <p:cNvSpPr txBox="1"/>
          <p:nvPr/>
        </p:nvSpPr>
        <p:spPr>
          <a:xfrm>
            <a:off x="7176655" y="24176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963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03811-A837-FA48-6800-E6556B0F7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F61EC-05CC-B8E2-96DB-1EF6955B3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23E27-C0DF-12C1-99CA-044AC8477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"The Hospital Management Dashboard transforms raw healthcare data into meaningful and interactive insights.“</a:t>
            </a:r>
          </a:p>
          <a:p>
            <a:endParaRPr lang="en-IN" dirty="0"/>
          </a:p>
          <a:p>
            <a:r>
              <a:rPr lang="en-IN" b="1" dirty="0"/>
              <a:t>Key Benefits</a:t>
            </a:r>
          </a:p>
          <a:p>
            <a:pPr marL="0" indent="0">
              <a:buNone/>
            </a:pPr>
            <a:r>
              <a:rPr lang="en-IN" dirty="0"/>
              <a:t>✅ Faster analysis</a:t>
            </a:r>
            <a:br>
              <a:rPr lang="en-IN" dirty="0"/>
            </a:br>
            <a:r>
              <a:rPr lang="en-IN" dirty="0"/>
              <a:t>✅ Interactive filtering</a:t>
            </a:r>
            <a:br>
              <a:rPr lang="en-IN" dirty="0"/>
            </a:br>
            <a:r>
              <a:rPr lang="en-IN" dirty="0"/>
              <a:t>✅ Easy performance monitoring</a:t>
            </a:r>
            <a:br>
              <a:rPr lang="en-IN" dirty="0"/>
            </a:br>
            <a:r>
              <a:rPr lang="en-IN" dirty="0"/>
              <a:t>✅ Better understanding of patient trends</a:t>
            </a:r>
            <a:br>
              <a:rPr lang="en-IN" dirty="0"/>
            </a:br>
            <a:r>
              <a:rPr lang="en-IN" dirty="0"/>
              <a:t>✅ Supports data-driven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7810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A4391-5CC3-8DEC-D7FD-5B3BA043D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982" y="2603012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IN" sz="80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39208-A803-52E5-61CB-DF86E5D75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5534890"/>
            <a:ext cx="10058400" cy="50014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64592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{8C278995-7582-4875-BACA-2A5D5929F73B}TF77a67a13-02ae-4296-8148-f26bdaaf38f15d531602-3675789a7173</Template>
  <TotalTime>285</TotalTime>
  <Words>421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Garamond</vt:lpstr>
      <vt:lpstr>Savon</vt:lpstr>
      <vt:lpstr>HOSPITAL MANAGEMENT DASHBOARD</vt:lpstr>
      <vt:lpstr>Project Introduction</vt:lpstr>
      <vt:lpstr>Project Objectives</vt:lpstr>
      <vt:lpstr>DATASET OVERVIEW</vt:lpstr>
      <vt:lpstr>Tools &amp; Technologies</vt:lpstr>
      <vt:lpstr>Dashboard Overview </vt:lpstr>
      <vt:lpstr>BUSINESS INSIGHTS </vt:lpstr>
      <vt:lpstr>RECOMMENDATIONS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Kalaskar</dc:creator>
  <cp:lastModifiedBy>Rahul Kalaskar</cp:lastModifiedBy>
  <cp:revision>4</cp:revision>
  <dcterms:created xsi:type="dcterms:W3CDTF">2026-08-29T16:27:47Z</dcterms:created>
  <dcterms:modified xsi:type="dcterms:W3CDTF">2026-08-31T10:18:39Z</dcterms:modified>
</cp:coreProperties>
</file>